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ntonio Ultra-Bold" charset="1" panose="02000803000000000000"/>
      <p:regular r:id="rId17"/>
    </p:embeddedFont>
    <p:embeddedFont>
      <p:font typeface="Montserrat Medium" charset="1" panose="00000600000000000000"/>
      <p:regular r:id="rId18"/>
    </p:embeddedFont>
    <p:embeddedFont>
      <p:font typeface="Raleway Medium" charset="1" panose="00000000000000000000"/>
      <p:regular r:id="rId19"/>
    </p:embeddedFont>
    <p:embeddedFont>
      <p:font typeface="Telegraf Medium" charset="1" panose="00000600000000000000"/>
      <p:regular r:id="rId20"/>
    </p:embeddedFont>
    <p:embeddedFont>
      <p:font typeface="Antonio Light" charset="1" panose="02000303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99105" y="5143500"/>
            <a:ext cx="4884164" cy="488416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-10742067" y="-3151841"/>
            <a:ext cx="16235139" cy="16235139"/>
          </a:xfrm>
          <a:custGeom>
            <a:avLst/>
            <a:gdLst/>
            <a:ahLst/>
            <a:cxnLst/>
            <a:rect r="r" b="b" t="t" l="l"/>
            <a:pathLst>
              <a:path h="16235139" w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53164" y="1189894"/>
            <a:ext cx="717581" cy="844471"/>
          </a:xfrm>
          <a:custGeom>
            <a:avLst/>
            <a:gdLst/>
            <a:ahLst/>
            <a:cxnLst/>
            <a:rect r="r" b="b" t="t" l="l"/>
            <a:pathLst>
              <a:path h="844471" w="717581">
                <a:moveTo>
                  <a:pt x="0" y="0"/>
                </a:moveTo>
                <a:lnTo>
                  <a:pt x="717582" y="0"/>
                </a:lnTo>
                <a:lnTo>
                  <a:pt x="717582" y="844471"/>
                </a:lnTo>
                <a:lnTo>
                  <a:pt x="0" y="8444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802847" y="9074087"/>
            <a:ext cx="365153" cy="347891"/>
          </a:xfrm>
          <a:custGeom>
            <a:avLst/>
            <a:gdLst/>
            <a:ahLst/>
            <a:cxnLst/>
            <a:rect r="r" b="b" t="t" l="l"/>
            <a:pathLst>
              <a:path h="347891" w="365153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72049" y="8754671"/>
            <a:ext cx="5408361" cy="493362"/>
          </a:xfrm>
          <a:custGeom>
            <a:avLst/>
            <a:gdLst/>
            <a:ahLst/>
            <a:cxnLst/>
            <a:rect r="r" b="b" t="t" l="l"/>
            <a:pathLst>
              <a:path h="493362" w="5408361">
                <a:moveTo>
                  <a:pt x="0" y="0"/>
                </a:moveTo>
                <a:lnTo>
                  <a:pt x="5408361" y="0"/>
                </a:lnTo>
                <a:lnTo>
                  <a:pt x="5408361" y="493361"/>
                </a:lnTo>
                <a:lnTo>
                  <a:pt x="0" y="4933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6030363" y="896714"/>
            <a:ext cx="2680687" cy="897724"/>
            <a:chOff x="0" y="0"/>
            <a:chExt cx="706025" cy="2364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6025" cy="236438"/>
            </a:xfrm>
            <a:custGeom>
              <a:avLst/>
              <a:gdLst/>
              <a:ahLst/>
              <a:cxnLst/>
              <a:rect r="r" b="b" t="t" l="l"/>
              <a:pathLst>
                <a:path h="236438" w="706025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111955" y="3802408"/>
            <a:ext cx="14156742" cy="235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28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STUDI KASUS PERMUTASI, KOMBINASI, TEORI BILANGAN : ENKRIPSI &amp; DEKRIPSI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85309" y="1448871"/>
            <a:ext cx="2807763" cy="34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Studio Shodwe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630080" y="1189894"/>
            <a:ext cx="822214" cy="291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b="true" sz="1920" spc="1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01/15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0742067" y="-3151841"/>
            <a:ext cx="16235139" cy="16235139"/>
          </a:xfrm>
          <a:custGeom>
            <a:avLst/>
            <a:gdLst/>
            <a:ahLst/>
            <a:cxnLst/>
            <a:rect r="r" b="b" t="t" l="l"/>
            <a:pathLst>
              <a:path h="16235139" w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53164" y="1189894"/>
            <a:ext cx="717581" cy="844471"/>
          </a:xfrm>
          <a:custGeom>
            <a:avLst/>
            <a:gdLst/>
            <a:ahLst/>
            <a:cxnLst/>
            <a:rect r="r" b="b" t="t" l="l"/>
            <a:pathLst>
              <a:path h="844471" w="717581">
                <a:moveTo>
                  <a:pt x="0" y="0"/>
                </a:moveTo>
                <a:lnTo>
                  <a:pt x="717582" y="0"/>
                </a:lnTo>
                <a:lnTo>
                  <a:pt x="717582" y="844471"/>
                </a:lnTo>
                <a:lnTo>
                  <a:pt x="0" y="8444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802847" y="9074087"/>
            <a:ext cx="365153" cy="347891"/>
          </a:xfrm>
          <a:custGeom>
            <a:avLst/>
            <a:gdLst/>
            <a:ahLst/>
            <a:cxnLst/>
            <a:rect r="r" b="b" t="t" l="l"/>
            <a:pathLst>
              <a:path h="347891" w="365153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921630" y="2670677"/>
            <a:ext cx="5246370" cy="5246370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4838700" y="0"/>
                  </a:moveTo>
                  <a:lnTo>
                    <a:pt x="1511300" y="0"/>
                  </a:lnTo>
                  <a:cubicBezTo>
                    <a:pt x="676910" y="0"/>
                    <a:pt x="0" y="676910"/>
                    <a:pt x="0" y="1511300"/>
                  </a:cubicBezTo>
                  <a:lnTo>
                    <a:pt x="0" y="6350000"/>
                  </a:lnTo>
                  <a:lnTo>
                    <a:pt x="4838700" y="6350000"/>
                  </a:lnTo>
                  <a:cubicBezTo>
                    <a:pt x="5673090" y="6350000"/>
                    <a:pt x="6350000" y="5673090"/>
                    <a:pt x="6350000" y="4838700"/>
                  </a:cubicBezTo>
                  <a:lnTo>
                    <a:pt x="6350000" y="0"/>
                  </a:lnTo>
                  <a:lnTo>
                    <a:pt x="4838700" y="0"/>
                  </a:lnTo>
                  <a:close/>
                </a:path>
              </a:pathLst>
            </a:custGeom>
            <a:blipFill>
              <a:blip r:embed="rId7"/>
              <a:stretch>
                <a:fillRect l="-25000" t="0" r="-25000" b="0"/>
              </a:stretch>
            </a:blipFill>
            <a:ln w="85725" cap="sq">
              <a:gradFill>
                <a:gsLst>
                  <a:gs pos="0">
                    <a:srgbClr val="243F81">
                      <a:alpha val="100000"/>
                    </a:srgbClr>
                  </a:gs>
                  <a:gs pos="100000">
                    <a:srgbClr val="28819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1504067" y="2358141"/>
            <a:ext cx="1148007" cy="114800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53164" y="3859766"/>
            <a:ext cx="8414455" cy="2586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8"/>
              </a:lnSpc>
            </a:pPr>
            <a:r>
              <a:rPr lang="en-US" sz="4386" b="true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permutasi dan kombinasi menjadi fondasi utama dari teknik kriptografi modern maupun klasik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111293" y="7179103"/>
            <a:ext cx="1148007" cy="114800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685309" y="1448871"/>
            <a:ext cx="2807763" cy="34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Studio Shodwe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030363" y="896714"/>
            <a:ext cx="2680687" cy="897724"/>
            <a:chOff x="0" y="0"/>
            <a:chExt cx="706025" cy="2364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6025" cy="236438"/>
            </a:xfrm>
            <a:custGeom>
              <a:avLst/>
              <a:gdLst/>
              <a:ahLst/>
              <a:cxnLst/>
              <a:rect r="r" b="b" t="t" l="l"/>
              <a:pathLst>
                <a:path h="236438" w="706025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630080" y="1189894"/>
            <a:ext cx="822214" cy="291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b="true" sz="1920" spc="1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02/15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0742067" y="-3151841"/>
            <a:ext cx="16235139" cy="16235139"/>
          </a:xfrm>
          <a:custGeom>
            <a:avLst/>
            <a:gdLst/>
            <a:ahLst/>
            <a:cxnLst/>
            <a:rect r="r" b="b" t="t" l="l"/>
            <a:pathLst>
              <a:path h="16235139" w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53164" y="1189894"/>
            <a:ext cx="717581" cy="844471"/>
          </a:xfrm>
          <a:custGeom>
            <a:avLst/>
            <a:gdLst/>
            <a:ahLst/>
            <a:cxnLst/>
            <a:rect r="r" b="b" t="t" l="l"/>
            <a:pathLst>
              <a:path h="844471" w="717581">
                <a:moveTo>
                  <a:pt x="0" y="0"/>
                </a:moveTo>
                <a:lnTo>
                  <a:pt x="717582" y="0"/>
                </a:lnTo>
                <a:lnTo>
                  <a:pt x="717582" y="844471"/>
                </a:lnTo>
                <a:lnTo>
                  <a:pt x="0" y="8444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802847" y="9074087"/>
            <a:ext cx="365153" cy="347891"/>
          </a:xfrm>
          <a:custGeom>
            <a:avLst/>
            <a:gdLst/>
            <a:ahLst/>
            <a:cxnLst/>
            <a:rect r="r" b="b" t="t" l="l"/>
            <a:pathLst>
              <a:path h="347891" w="365153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921630" y="2670677"/>
            <a:ext cx="5246370" cy="5246370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4838700" y="0"/>
                  </a:moveTo>
                  <a:lnTo>
                    <a:pt x="1511300" y="0"/>
                  </a:lnTo>
                  <a:cubicBezTo>
                    <a:pt x="676910" y="0"/>
                    <a:pt x="0" y="676910"/>
                    <a:pt x="0" y="1511300"/>
                  </a:cubicBezTo>
                  <a:lnTo>
                    <a:pt x="0" y="6350000"/>
                  </a:lnTo>
                  <a:lnTo>
                    <a:pt x="4838700" y="6350000"/>
                  </a:lnTo>
                  <a:cubicBezTo>
                    <a:pt x="5673090" y="6350000"/>
                    <a:pt x="6350000" y="5673090"/>
                    <a:pt x="6350000" y="4838700"/>
                  </a:cubicBezTo>
                  <a:lnTo>
                    <a:pt x="6350000" y="0"/>
                  </a:lnTo>
                  <a:lnTo>
                    <a:pt x="4838700" y="0"/>
                  </a:lnTo>
                  <a:close/>
                </a:path>
              </a:pathLst>
            </a:custGeom>
            <a:blipFill>
              <a:blip r:embed="rId7"/>
              <a:stretch>
                <a:fillRect l="-25000" t="0" r="-25000" b="0"/>
              </a:stretch>
            </a:blipFill>
            <a:ln w="85725" cap="sq">
              <a:gradFill>
                <a:gsLst>
                  <a:gs pos="0">
                    <a:srgbClr val="243F81">
                      <a:alpha val="100000"/>
                    </a:srgbClr>
                  </a:gs>
                  <a:gs pos="100000">
                    <a:srgbClr val="28819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1504067" y="2358141"/>
            <a:ext cx="1148007" cy="114800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53164" y="3231679"/>
            <a:ext cx="8414455" cy="516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7093" indent="-473547" lvl="1">
              <a:lnSpc>
                <a:spcPts val="5088"/>
              </a:lnSpc>
              <a:buFont typeface="Arial"/>
              <a:buChar char="•"/>
            </a:pPr>
            <a:r>
              <a:rPr lang="en-US" b="true" sz="4386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Enkripsi : Metode untuk mengonversi informasi menjadi kode rahasia dengan algoritma kriptografi</a:t>
            </a:r>
          </a:p>
          <a:p>
            <a:pPr algn="l">
              <a:lnSpc>
                <a:spcPts val="5088"/>
              </a:lnSpc>
            </a:pPr>
          </a:p>
          <a:p>
            <a:pPr algn="l" marL="947093" indent="-473547" lvl="1">
              <a:lnSpc>
                <a:spcPts val="5088"/>
              </a:lnSpc>
              <a:buFont typeface="Arial"/>
              <a:buChar char="•"/>
            </a:pPr>
            <a:r>
              <a:rPr lang="en-US" b="true" sz="4386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Dekripsi : Metode untuk mengembalikan informasi yang di enkripsi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111293" y="7179103"/>
            <a:ext cx="1148007" cy="114800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685309" y="1448871"/>
            <a:ext cx="2807763" cy="34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Studio Shodwe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030363" y="896714"/>
            <a:ext cx="2680687" cy="897724"/>
            <a:chOff x="0" y="0"/>
            <a:chExt cx="706025" cy="2364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6025" cy="236438"/>
            </a:xfrm>
            <a:custGeom>
              <a:avLst/>
              <a:gdLst/>
              <a:ahLst/>
              <a:cxnLst/>
              <a:rect r="r" b="b" t="t" l="l"/>
              <a:pathLst>
                <a:path h="236438" w="706025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630080" y="1189894"/>
            <a:ext cx="822214" cy="291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b="true" sz="1920" spc="1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02/15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0742067" y="-3151841"/>
            <a:ext cx="16235139" cy="16235139"/>
          </a:xfrm>
          <a:custGeom>
            <a:avLst/>
            <a:gdLst/>
            <a:ahLst/>
            <a:cxnLst/>
            <a:rect r="r" b="b" t="t" l="l"/>
            <a:pathLst>
              <a:path h="16235139" w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802847" y="9074087"/>
            <a:ext cx="365153" cy="347891"/>
          </a:xfrm>
          <a:custGeom>
            <a:avLst/>
            <a:gdLst/>
            <a:ahLst/>
            <a:cxnLst/>
            <a:rect r="r" b="b" t="t" l="l"/>
            <a:pathLst>
              <a:path h="347891" w="365153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921630" y="2670677"/>
            <a:ext cx="5246370" cy="5246370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4838700" y="0"/>
                  </a:moveTo>
                  <a:lnTo>
                    <a:pt x="1511300" y="0"/>
                  </a:lnTo>
                  <a:cubicBezTo>
                    <a:pt x="676910" y="0"/>
                    <a:pt x="0" y="676910"/>
                    <a:pt x="0" y="1511300"/>
                  </a:cubicBezTo>
                  <a:lnTo>
                    <a:pt x="0" y="6350000"/>
                  </a:lnTo>
                  <a:lnTo>
                    <a:pt x="4838700" y="6350000"/>
                  </a:lnTo>
                  <a:cubicBezTo>
                    <a:pt x="5673090" y="6350000"/>
                    <a:pt x="6350000" y="5673090"/>
                    <a:pt x="6350000" y="4838700"/>
                  </a:cubicBezTo>
                  <a:lnTo>
                    <a:pt x="6350000" y="0"/>
                  </a:lnTo>
                  <a:lnTo>
                    <a:pt x="4838700" y="0"/>
                  </a:lnTo>
                  <a:close/>
                </a:path>
              </a:pathLst>
            </a:custGeom>
            <a:blipFill>
              <a:blip r:embed="rId5"/>
              <a:stretch>
                <a:fillRect l="-25000" t="0" r="-25000" b="0"/>
              </a:stretch>
            </a:blipFill>
            <a:ln w="85725" cap="sq">
              <a:gradFill>
                <a:gsLst>
                  <a:gs pos="0">
                    <a:srgbClr val="243F81">
                      <a:alpha val="100000"/>
                    </a:srgbClr>
                  </a:gs>
                  <a:gs pos="100000">
                    <a:srgbClr val="28819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504067" y="2358141"/>
            <a:ext cx="1148007" cy="114800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047750"/>
            <a:ext cx="10235853" cy="775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8"/>
              </a:lnSpc>
            </a:pPr>
            <a:r>
              <a:rPr lang="en-US" sz="4386" b="true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Contoh Algoritma :</a:t>
            </a:r>
          </a:p>
          <a:p>
            <a:pPr algn="l">
              <a:lnSpc>
                <a:spcPts val="5088"/>
              </a:lnSpc>
            </a:pPr>
          </a:p>
          <a:p>
            <a:pPr algn="l" marL="947093" indent="-473547" lvl="1">
              <a:lnSpc>
                <a:spcPts val="5088"/>
              </a:lnSpc>
              <a:buFont typeface="Arial"/>
              <a:buChar char="•"/>
            </a:pPr>
            <a:r>
              <a:rPr lang="en-US" b="true" sz="4386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RSA-CRT (asymetris) : menggunakan konsep kombinatorika   menghasilkan kunci rahasia untuk proses enkripsi-dekripsi.</a:t>
            </a:r>
          </a:p>
          <a:p>
            <a:pPr algn="l" marL="947093" indent="-473547" lvl="1">
              <a:lnSpc>
                <a:spcPts val="5088"/>
              </a:lnSpc>
              <a:buFont typeface="Arial"/>
              <a:buChar char="•"/>
            </a:pPr>
            <a:r>
              <a:rPr lang="en-US" b="true" sz="4386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AES (symetris) : Menggunakan kombinasi operasi substitusi dan permutasi (dalam bentuk ShiftRows dan MixColumns) untuk mengenkripsi data.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111293" y="7179103"/>
            <a:ext cx="1148007" cy="114800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030363" y="896714"/>
            <a:ext cx="2680687" cy="897724"/>
            <a:chOff x="0" y="0"/>
            <a:chExt cx="706025" cy="2364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6025" cy="236438"/>
            </a:xfrm>
            <a:custGeom>
              <a:avLst/>
              <a:gdLst/>
              <a:ahLst/>
              <a:cxnLst/>
              <a:rect r="r" b="b" t="t" l="l"/>
              <a:pathLst>
                <a:path h="236438" w="706025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630080" y="1189894"/>
            <a:ext cx="822214" cy="291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b="true" sz="1920" spc="1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02/15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99105" y="5143500"/>
            <a:ext cx="4884164" cy="488416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-10742067" y="-3151841"/>
            <a:ext cx="16235139" cy="16235139"/>
          </a:xfrm>
          <a:custGeom>
            <a:avLst/>
            <a:gdLst/>
            <a:ahLst/>
            <a:cxnLst/>
            <a:rect r="r" b="b" t="t" l="l"/>
            <a:pathLst>
              <a:path h="16235139" w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53164" y="1189894"/>
            <a:ext cx="717581" cy="844471"/>
          </a:xfrm>
          <a:custGeom>
            <a:avLst/>
            <a:gdLst/>
            <a:ahLst/>
            <a:cxnLst/>
            <a:rect r="r" b="b" t="t" l="l"/>
            <a:pathLst>
              <a:path h="844471" w="717581">
                <a:moveTo>
                  <a:pt x="0" y="0"/>
                </a:moveTo>
                <a:lnTo>
                  <a:pt x="717582" y="0"/>
                </a:lnTo>
                <a:lnTo>
                  <a:pt x="717582" y="844471"/>
                </a:lnTo>
                <a:lnTo>
                  <a:pt x="0" y="8444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802847" y="9074087"/>
            <a:ext cx="365153" cy="347891"/>
          </a:xfrm>
          <a:custGeom>
            <a:avLst/>
            <a:gdLst/>
            <a:ahLst/>
            <a:cxnLst/>
            <a:rect r="r" b="b" t="t" l="l"/>
            <a:pathLst>
              <a:path h="347891" w="365153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72049" y="8754671"/>
            <a:ext cx="5408361" cy="493362"/>
          </a:xfrm>
          <a:custGeom>
            <a:avLst/>
            <a:gdLst/>
            <a:ahLst/>
            <a:cxnLst/>
            <a:rect r="r" b="b" t="t" l="l"/>
            <a:pathLst>
              <a:path h="493362" w="5408361">
                <a:moveTo>
                  <a:pt x="0" y="0"/>
                </a:moveTo>
                <a:lnTo>
                  <a:pt x="5408361" y="0"/>
                </a:lnTo>
                <a:lnTo>
                  <a:pt x="5408361" y="493361"/>
                </a:lnTo>
                <a:lnTo>
                  <a:pt x="0" y="4933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6030363" y="896714"/>
            <a:ext cx="2680687" cy="897724"/>
            <a:chOff x="0" y="0"/>
            <a:chExt cx="706025" cy="2364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6025" cy="236438"/>
            </a:xfrm>
            <a:custGeom>
              <a:avLst/>
              <a:gdLst/>
              <a:ahLst/>
              <a:cxnLst/>
              <a:rect r="r" b="b" t="t" l="l"/>
              <a:pathLst>
                <a:path h="236438" w="706025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070318" y="4388196"/>
            <a:ext cx="8147364" cy="118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28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PEMBAHASAN FUNGSI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85309" y="1448871"/>
            <a:ext cx="2807763" cy="34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Studio Shodwe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630080" y="1189894"/>
            <a:ext cx="822214" cy="291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b="true" sz="1920" spc="1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01/15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0742067" y="-3151841"/>
            <a:ext cx="16235139" cy="16235139"/>
          </a:xfrm>
          <a:custGeom>
            <a:avLst/>
            <a:gdLst/>
            <a:ahLst/>
            <a:cxnLst/>
            <a:rect r="r" b="b" t="t" l="l"/>
            <a:pathLst>
              <a:path h="16235139" w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802847" y="9074087"/>
            <a:ext cx="365153" cy="347891"/>
          </a:xfrm>
          <a:custGeom>
            <a:avLst/>
            <a:gdLst/>
            <a:ahLst/>
            <a:cxnLst/>
            <a:rect r="r" b="b" t="t" l="l"/>
            <a:pathLst>
              <a:path h="347891" w="365153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59300" y="187749"/>
            <a:ext cx="1148007" cy="114800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6605100"/>
            <a:ext cx="1148007" cy="114800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030363" y="896714"/>
            <a:ext cx="2680687" cy="897724"/>
            <a:chOff x="0" y="0"/>
            <a:chExt cx="706025" cy="2364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6025" cy="236438"/>
            </a:xfrm>
            <a:custGeom>
              <a:avLst/>
              <a:gdLst/>
              <a:ahLst/>
              <a:cxnLst/>
              <a:rect r="r" b="b" t="t" l="l"/>
              <a:pathLst>
                <a:path h="236438" w="706025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512740" y="1345576"/>
            <a:ext cx="9262519" cy="4123446"/>
          </a:xfrm>
          <a:custGeom>
            <a:avLst/>
            <a:gdLst/>
            <a:ahLst/>
            <a:cxnLst/>
            <a:rect r="r" b="b" t="t" l="l"/>
            <a:pathLst>
              <a:path h="4123446" w="9262519">
                <a:moveTo>
                  <a:pt x="0" y="0"/>
                </a:moveTo>
                <a:lnTo>
                  <a:pt x="9262520" y="0"/>
                </a:lnTo>
                <a:lnTo>
                  <a:pt x="9262520" y="4123447"/>
                </a:lnTo>
                <a:lnTo>
                  <a:pt x="0" y="41234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630080" y="1189894"/>
            <a:ext cx="822214" cy="291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b="true" sz="1920" spc="1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02/15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0742067" y="-3151841"/>
            <a:ext cx="16235139" cy="16235139"/>
          </a:xfrm>
          <a:custGeom>
            <a:avLst/>
            <a:gdLst/>
            <a:ahLst/>
            <a:cxnLst/>
            <a:rect r="r" b="b" t="t" l="l"/>
            <a:pathLst>
              <a:path h="16235139" w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802847" y="9074087"/>
            <a:ext cx="365153" cy="347891"/>
          </a:xfrm>
          <a:custGeom>
            <a:avLst/>
            <a:gdLst/>
            <a:ahLst/>
            <a:cxnLst/>
            <a:rect r="r" b="b" t="t" l="l"/>
            <a:pathLst>
              <a:path h="347891" w="365153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59300" y="187749"/>
            <a:ext cx="1148007" cy="114800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6605100"/>
            <a:ext cx="1148007" cy="114800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030363" y="896714"/>
            <a:ext cx="2680687" cy="897724"/>
            <a:chOff x="0" y="0"/>
            <a:chExt cx="706025" cy="2364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6025" cy="236438"/>
            </a:xfrm>
            <a:custGeom>
              <a:avLst/>
              <a:gdLst/>
              <a:ahLst/>
              <a:cxnLst/>
              <a:rect r="r" b="b" t="t" l="l"/>
              <a:pathLst>
                <a:path h="236438" w="706025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926566" y="896714"/>
            <a:ext cx="12434868" cy="4091213"/>
          </a:xfrm>
          <a:custGeom>
            <a:avLst/>
            <a:gdLst/>
            <a:ahLst/>
            <a:cxnLst/>
            <a:rect r="r" b="b" t="t" l="l"/>
            <a:pathLst>
              <a:path h="4091213" w="12434868">
                <a:moveTo>
                  <a:pt x="0" y="0"/>
                </a:moveTo>
                <a:lnTo>
                  <a:pt x="12434868" y="0"/>
                </a:lnTo>
                <a:lnTo>
                  <a:pt x="12434868" y="4091213"/>
                </a:lnTo>
                <a:lnTo>
                  <a:pt x="0" y="40912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630080" y="1189894"/>
            <a:ext cx="822214" cy="291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b="true" sz="1920" spc="1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02/15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82170" y="6227529"/>
            <a:ext cx="8323659" cy="736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</a:pPr>
            <a:r>
              <a:rPr lang="en-US" sz="2400" b="true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membuat  secure key dengan library secret (bawaan). </a:t>
            </a:r>
          </a:p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yang mana bakal ngehasilin data  ukuran 32 byte (256 bit)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0742067" y="-3151841"/>
            <a:ext cx="16235139" cy="16235139"/>
          </a:xfrm>
          <a:custGeom>
            <a:avLst/>
            <a:gdLst/>
            <a:ahLst/>
            <a:cxnLst/>
            <a:rect r="r" b="b" t="t" l="l"/>
            <a:pathLst>
              <a:path h="16235139" w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802847" y="9074087"/>
            <a:ext cx="365153" cy="347891"/>
          </a:xfrm>
          <a:custGeom>
            <a:avLst/>
            <a:gdLst/>
            <a:ahLst/>
            <a:cxnLst/>
            <a:rect r="r" b="b" t="t" l="l"/>
            <a:pathLst>
              <a:path h="347891" w="365153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59300" y="187749"/>
            <a:ext cx="1148007" cy="114800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6605100"/>
            <a:ext cx="1148007" cy="114800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030363" y="896714"/>
            <a:ext cx="2680687" cy="897724"/>
            <a:chOff x="0" y="0"/>
            <a:chExt cx="706025" cy="2364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6025" cy="236438"/>
            </a:xfrm>
            <a:custGeom>
              <a:avLst/>
              <a:gdLst/>
              <a:ahLst/>
              <a:cxnLst/>
              <a:rect r="r" b="b" t="t" l="l"/>
              <a:pathLst>
                <a:path h="236438" w="706025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135455" y="1481618"/>
            <a:ext cx="8446177" cy="5799881"/>
          </a:xfrm>
          <a:custGeom>
            <a:avLst/>
            <a:gdLst/>
            <a:ahLst/>
            <a:cxnLst/>
            <a:rect r="r" b="b" t="t" l="l"/>
            <a:pathLst>
              <a:path h="5799881" w="8446177">
                <a:moveTo>
                  <a:pt x="0" y="0"/>
                </a:moveTo>
                <a:lnTo>
                  <a:pt x="8446177" y="0"/>
                </a:lnTo>
                <a:lnTo>
                  <a:pt x="8446177" y="5799880"/>
                </a:lnTo>
                <a:lnTo>
                  <a:pt x="0" y="57998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837" t="-8001" r="-5494" b="-8501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630080" y="1189894"/>
            <a:ext cx="822214" cy="291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b="true" sz="1920" spc="1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02/15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0" y="7551748"/>
            <a:ext cx="13856746" cy="1440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intinya </a:t>
            </a:r>
            <a:r>
              <a:rPr lang="en-US" b="true" sz="240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mengubah password yang lemah jadi kuat pake kdf yang dibuat. salt = data acak. di fungsi key itu Password di-encode ke bytes, kemudia di proses:</a:t>
            </a:r>
          </a:p>
          <a:p>
            <a:pPr algn="ctr" marL="518160" indent="-259080" lvl="1">
              <a:lnSpc>
                <a:spcPts val="278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password + salt di-hash berulang (100k kali), hasilnya key 32 byte </a:t>
            </a:r>
          </a:p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0742067" y="-3151841"/>
            <a:ext cx="16235139" cy="16235139"/>
          </a:xfrm>
          <a:custGeom>
            <a:avLst/>
            <a:gdLst/>
            <a:ahLst/>
            <a:cxnLst/>
            <a:rect r="r" b="b" t="t" l="l"/>
            <a:pathLst>
              <a:path h="16235139" w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802847" y="9074087"/>
            <a:ext cx="365153" cy="347891"/>
          </a:xfrm>
          <a:custGeom>
            <a:avLst/>
            <a:gdLst/>
            <a:ahLst/>
            <a:cxnLst/>
            <a:rect r="r" b="b" t="t" l="l"/>
            <a:pathLst>
              <a:path h="347891" w="365153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59300" y="187749"/>
            <a:ext cx="1148007" cy="114800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6605100"/>
            <a:ext cx="1148007" cy="114800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030363" y="896714"/>
            <a:ext cx="2680687" cy="897724"/>
            <a:chOff x="0" y="0"/>
            <a:chExt cx="706025" cy="2364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6025" cy="236438"/>
            </a:xfrm>
            <a:custGeom>
              <a:avLst/>
              <a:gdLst/>
              <a:ahLst/>
              <a:cxnLst/>
              <a:rect r="r" b="b" t="t" l="l"/>
              <a:pathLst>
                <a:path h="236438" w="706025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037967" y="1345576"/>
            <a:ext cx="7778010" cy="6192010"/>
          </a:xfrm>
          <a:custGeom>
            <a:avLst/>
            <a:gdLst/>
            <a:ahLst/>
            <a:cxnLst/>
            <a:rect r="r" b="b" t="t" l="l"/>
            <a:pathLst>
              <a:path h="6192010" w="7778010">
                <a:moveTo>
                  <a:pt x="0" y="0"/>
                </a:moveTo>
                <a:lnTo>
                  <a:pt x="7778011" y="0"/>
                </a:lnTo>
                <a:lnTo>
                  <a:pt x="7778011" y="6192010"/>
                </a:lnTo>
                <a:lnTo>
                  <a:pt x="0" y="61920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20" t="-6557" r="-5593" b="-796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630080" y="1189894"/>
            <a:ext cx="822214" cy="291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b="true" sz="1920" spc="1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02/15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0742067" y="-3151841"/>
            <a:ext cx="16235139" cy="16235139"/>
          </a:xfrm>
          <a:custGeom>
            <a:avLst/>
            <a:gdLst/>
            <a:ahLst/>
            <a:cxnLst/>
            <a:rect r="r" b="b" t="t" l="l"/>
            <a:pathLst>
              <a:path h="16235139" w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802847" y="9074087"/>
            <a:ext cx="365153" cy="347891"/>
          </a:xfrm>
          <a:custGeom>
            <a:avLst/>
            <a:gdLst/>
            <a:ahLst/>
            <a:cxnLst/>
            <a:rect r="r" b="b" t="t" l="l"/>
            <a:pathLst>
              <a:path h="347891" w="365153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59300" y="187749"/>
            <a:ext cx="1148007" cy="114800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6605100"/>
            <a:ext cx="1148007" cy="114800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030363" y="896714"/>
            <a:ext cx="2680687" cy="897724"/>
            <a:chOff x="0" y="0"/>
            <a:chExt cx="706025" cy="2364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6025" cy="236438"/>
            </a:xfrm>
            <a:custGeom>
              <a:avLst/>
              <a:gdLst/>
              <a:ahLst/>
              <a:cxnLst/>
              <a:rect r="r" b="b" t="t" l="l"/>
              <a:pathLst>
                <a:path h="236438" w="706025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48007" y="1028700"/>
            <a:ext cx="10379817" cy="7813346"/>
          </a:xfrm>
          <a:custGeom>
            <a:avLst/>
            <a:gdLst/>
            <a:ahLst/>
            <a:cxnLst/>
            <a:rect r="r" b="b" t="t" l="l"/>
            <a:pathLst>
              <a:path h="7813346" w="10379817">
                <a:moveTo>
                  <a:pt x="0" y="0"/>
                </a:moveTo>
                <a:lnTo>
                  <a:pt x="10379816" y="0"/>
                </a:lnTo>
                <a:lnTo>
                  <a:pt x="10379816" y="7813346"/>
                </a:lnTo>
                <a:lnTo>
                  <a:pt x="0" y="78133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444" t="-7561" r="-6084" b="-8675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630080" y="1189894"/>
            <a:ext cx="822214" cy="291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b="true" sz="1920" spc="1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02/15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0742067" y="-3151841"/>
            <a:ext cx="16235139" cy="16235139"/>
          </a:xfrm>
          <a:custGeom>
            <a:avLst/>
            <a:gdLst/>
            <a:ahLst/>
            <a:cxnLst/>
            <a:rect r="r" b="b" t="t" l="l"/>
            <a:pathLst>
              <a:path h="16235139" w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53164" y="1189894"/>
            <a:ext cx="717581" cy="844471"/>
          </a:xfrm>
          <a:custGeom>
            <a:avLst/>
            <a:gdLst/>
            <a:ahLst/>
            <a:cxnLst/>
            <a:rect r="r" b="b" t="t" l="l"/>
            <a:pathLst>
              <a:path h="844471" w="717581">
                <a:moveTo>
                  <a:pt x="0" y="0"/>
                </a:moveTo>
                <a:lnTo>
                  <a:pt x="717582" y="0"/>
                </a:lnTo>
                <a:lnTo>
                  <a:pt x="717582" y="844471"/>
                </a:lnTo>
                <a:lnTo>
                  <a:pt x="0" y="8444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802847" y="9074087"/>
            <a:ext cx="365153" cy="347891"/>
          </a:xfrm>
          <a:custGeom>
            <a:avLst/>
            <a:gdLst/>
            <a:ahLst/>
            <a:cxnLst/>
            <a:rect r="r" b="b" t="t" l="l"/>
            <a:pathLst>
              <a:path h="347891" w="365153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2049" y="8754671"/>
            <a:ext cx="5408361" cy="493362"/>
          </a:xfrm>
          <a:custGeom>
            <a:avLst/>
            <a:gdLst/>
            <a:ahLst/>
            <a:cxnLst/>
            <a:rect r="r" b="b" t="t" l="l"/>
            <a:pathLst>
              <a:path h="493362" w="5408361">
                <a:moveTo>
                  <a:pt x="0" y="0"/>
                </a:moveTo>
                <a:lnTo>
                  <a:pt x="5408361" y="0"/>
                </a:lnTo>
                <a:lnTo>
                  <a:pt x="5408361" y="493361"/>
                </a:lnTo>
                <a:lnTo>
                  <a:pt x="0" y="4933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030363" y="896714"/>
            <a:ext cx="2680687" cy="897724"/>
            <a:chOff x="0" y="0"/>
            <a:chExt cx="706025" cy="2364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6025" cy="236438"/>
            </a:xfrm>
            <a:custGeom>
              <a:avLst/>
              <a:gdLst/>
              <a:ahLst/>
              <a:cxnLst/>
              <a:rect r="r" b="b" t="t" l="l"/>
              <a:pathLst>
                <a:path h="236438" w="706025">
                  <a:moveTo>
                    <a:pt x="0" y="0"/>
                  </a:moveTo>
                  <a:lnTo>
                    <a:pt x="706025" y="0"/>
                  </a:lnTo>
                  <a:lnTo>
                    <a:pt x="706025" y="236438"/>
                  </a:lnTo>
                  <a:lnTo>
                    <a:pt x="0" y="236438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706025" cy="255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406903" y="3310736"/>
            <a:ext cx="6995030" cy="2446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2"/>
              </a:lnSpc>
              <a:spcBef>
                <a:spcPct val="0"/>
              </a:spcBef>
            </a:pPr>
            <a:r>
              <a:rPr lang="en-US" b="true" sz="16545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THANK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253489" y="2403386"/>
            <a:ext cx="2138817" cy="213881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697179" y="3989897"/>
            <a:ext cx="549969" cy="549969"/>
          </a:xfrm>
          <a:custGeom>
            <a:avLst/>
            <a:gdLst/>
            <a:ahLst/>
            <a:cxnLst/>
            <a:rect r="r" b="b" t="t" l="l"/>
            <a:pathLst>
              <a:path h="549969" w="549969">
                <a:moveTo>
                  <a:pt x="0" y="0"/>
                </a:moveTo>
                <a:lnTo>
                  <a:pt x="549969" y="0"/>
                </a:lnTo>
                <a:lnTo>
                  <a:pt x="549969" y="549969"/>
                </a:lnTo>
                <a:lnTo>
                  <a:pt x="0" y="5499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717548" y="6629902"/>
            <a:ext cx="549969" cy="549969"/>
          </a:xfrm>
          <a:custGeom>
            <a:avLst/>
            <a:gdLst/>
            <a:ahLst/>
            <a:cxnLst/>
            <a:rect r="r" b="b" t="t" l="l"/>
            <a:pathLst>
              <a:path h="549969" w="549969">
                <a:moveTo>
                  <a:pt x="0" y="0"/>
                </a:moveTo>
                <a:lnTo>
                  <a:pt x="549969" y="0"/>
                </a:lnTo>
                <a:lnTo>
                  <a:pt x="549969" y="549969"/>
                </a:lnTo>
                <a:lnTo>
                  <a:pt x="0" y="549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717548" y="5308408"/>
            <a:ext cx="549969" cy="549969"/>
          </a:xfrm>
          <a:custGeom>
            <a:avLst/>
            <a:gdLst/>
            <a:ahLst/>
            <a:cxnLst/>
            <a:rect r="r" b="b" t="t" l="l"/>
            <a:pathLst>
              <a:path h="549969" w="549969">
                <a:moveTo>
                  <a:pt x="0" y="0"/>
                </a:moveTo>
                <a:lnTo>
                  <a:pt x="549969" y="0"/>
                </a:lnTo>
                <a:lnTo>
                  <a:pt x="549969" y="549969"/>
                </a:lnTo>
                <a:lnTo>
                  <a:pt x="0" y="54996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685309" y="1448871"/>
            <a:ext cx="2807763" cy="34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Studio Shodwe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630080" y="1189894"/>
            <a:ext cx="822214" cy="291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  <a:spcBef>
                <a:spcPct val="0"/>
              </a:spcBef>
            </a:pPr>
            <a:r>
              <a:rPr lang="en-US" b="true" sz="1920" spc="19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15/15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53489" y="8821647"/>
            <a:ext cx="3772302" cy="330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000" spc="78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www.reallygreatsite.com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68105" y="5437365"/>
            <a:ext cx="4272627" cy="2446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2"/>
              </a:lnSpc>
              <a:spcBef>
                <a:spcPct val="0"/>
              </a:spcBef>
            </a:pPr>
            <a:r>
              <a:rPr lang="en-US" sz="16545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YOU!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92066" y="4035031"/>
            <a:ext cx="2552873" cy="335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8"/>
              </a:lnSpc>
              <a:spcBef>
                <a:spcPct val="0"/>
              </a:spcBef>
            </a:pPr>
            <a:r>
              <a:rPr lang="en-US" b="true" sz="23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+123-456-7890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92066" y="5380215"/>
            <a:ext cx="4769600" cy="335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8"/>
              </a:lnSpc>
              <a:spcBef>
                <a:spcPct val="0"/>
              </a:spcBef>
            </a:pPr>
            <a:r>
              <a:rPr lang="en-US" b="true" sz="23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hello@reallygreatsite.com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92066" y="6741882"/>
            <a:ext cx="4769600" cy="335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8"/>
              </a:lnSpc>
              <a:spcBef>
                <a:spcPct val="0"/>
              </a:spcBef>
            </a:pPr>
            <a:r>
              <a:rPr lang="en-US" b="true" sz="23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www.reallygreatsite.com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DAHGag7sOZw</dc:identifier>
  <dcterms:modified xsi:type="dcterms:W3CDTF">2011-08-01T06:04:30Z</dcterms:modified>
  <cp:revision>1</cp:revision>
  <dc:title>Green Modern Simple Cybersecurity Presentation</dc:title>
</cp:coreProperties>
</file>